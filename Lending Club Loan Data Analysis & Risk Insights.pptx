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258BBFEB-9323-44E0-8DD2-8BDC0B97C950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268A7-B3FA-9419-5115-107373997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Lending Club Loan Data Analysis &amp; Risk Insights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E123AE-EE90-4A1F-BE2B-1C61D5C5BD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5114264"/>
            <a:ext cx="8825658" cy="861420"/>
          </a:xfrm>
        </p:spPr>
        <p:txBody>
          <a:bodyPr>
            <a:normAutofit/>
          </a:bodyPr>
          <a:lstStyle/>
          <a:p>
            <a:r>
              <a:rPr lang="en-US" dirty="0"/>
              <a:t>Exploratory data analysis &amp; credit risk patterns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91049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B27FD-127E-F6A0-6543-942E49FEA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4B04C-C9C5-B6ED-749E-D3BCD4077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Lending club provides peer to peer loans to borrowers</a:t>
            </a:r>
          </a:p>
          <a:p>
            <a:r>
              <a:rPr lang="en-US" dirty="0"/>
              <a:t>Objective is to understand loan default behavior </a:t>
            </a:r>
          </a:p>
          <a:p>
            <a:r>
              <a:rPr lang="en-US" dirty="0"/>
              <a:t>Identify patterns that separate good vs risky borrowers</a:t>
            </a:r>
          </a:p>
          <a:p>
            <a:r>
              <a:rPr lang="en-IN" b="1" dirty="0"/>
              <a:t>Goal : Use EDA to uncover factors influencing loan default risk</a:t>
            </a:r>
          </a:p>
        </p:txBody>
      </p:sp>
    </p:spTree>
    <p:extLst>
      <p:ext uri="{BB962C8B-B14F-4D97-AF65-F5344CB8AC3E}">
        <p14:creationId xmlns:p14="http://schemas.microsoft.com/office/powerpoint/2010/main" val="3055860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F4ED9-B342-9B45-AAF4-927C50D9D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Overview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80677-0851-C3E9-2111-4CEDB2A8F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Source : Lending Club (Public Loan Data)</a:t>
            </a:r>
          </a:p>
          <a:p>
            <a:r>
              <a:rPr lang="en-US" dirty="0"/>
              <a:t>Total records : Number of rows – 397171 &amp; number of columns – 111</a:t>
            </a:r>
          </a:p>
          <a:p>
            <a:r>
              <a:rPr lang="en-US" dirty="0"/>
              <a:t>Target Variable : </a:t>
            </a:r>
            <a:r>
              <a:rPr lang="en-US" dirty="0" err="1"/>
              <a:t>loan_status</a:t>
            </a:r>
            <a:r>
              <a:rPr lang="en-US" dirty="0"/>
              <a:t> (fully paid , charged off , default)</a:t>
            </a:r>
          </a:p>
          <a:p>
            <a:r>
              <a:rPr lang="en-IN" dirty="0"/>
              <a:t>Data Type : Borrower, Loan &amp; Credit Attributes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7934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831B2-A12E-7160-59C8-5DA8A8B71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 &amp; Preprocessing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22195-5A04-E717-B17F-EE308B5B99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Removed irrelevant and high-missing-value columns</a:t>
            </a:r>
          </a:p>
          <a:p>
            <a:r>
              <a:rPr lang="en-US" dirty="0"/>
              <a:t>Handled missing values using appropriate strategies </a:t>
            </a:r>
          </a:p>
          <a:p>
            <a:r>
              <a:rPr lang="en-US" dirty="0"/>
              <a:t>Converted categorical variable to usable formats</a:t>
            </a:r>
          </a:p>
          <a:p>
            <a:r>
              <a:rPr lang="en-US" dirty="0"/>
              <a:t>Transformed interest rate and term into numeric values </a:t>
            </a:r>
          </a:p>
          <a:p>
            <a:r>
              <a:rPr lang="en-US" dirty="0"/>
              <a:t>Ensured consistency in loan status categories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5624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61515115-95FB-41E0-86F3-8744438C0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70AD9F-5B31-CBFD-D666-B07AF4483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5616217" cy="1622321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Loan Status Distribution</a:t>
            </a:r>
            <a:endParaRPr lang="en-IN">
              <a:solidFill>
                <a:srgbClr val="EBEBEB"/>
              </a:solidFill>
            </a:endParaRPr>
          </a:p>
        </p:txBody>
      </p:sp>
      <p:sp>
        <p:nvSpPr>
          <p:cNvPr id="25" name="Freeform 31">
            <a:extLst>
              <a:ext uri="{FF2B5EF4-FFF2-40B4-BE49-F238E27FC236}">
                <a16:creationId xmlns:a16="http://schemas.microsoft.com/office/drawing/2014/main" id="{8222A33F-BE2D-4D69-92A0-5DF8B17BA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49843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 useBgFill="1">
        <p:nvSpPr>
          <p:cNvPr id="27" name="Freeform: Shape 26">
            <a:extLst>
              <a:ext uri="{FF2B5EF4-FFF2-40B4-BE49-F238E27FC236}">
                <a16:creationId xmlns:a16="http://schemas.microsoft.com/office/drawing/2014/main" id="{CE1C74D0-9609-468A-9597-5D87C8A42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998731" y="664312"/>
            <a:ext cx="6858001" cy="5529377"/>
          </a:xfrm>
          <a:custGeom>
            <a:avLst/>
            <a:gdLst>
              <a:gd name="connsiteX0" fmla="*/ 6858001 w 6858001"/>
              <a:gd name="connsiteY0" fmla="*/ 1177 h 5529377"/>
              <a:gd name="connsiteX1" fmla="*/ 6858001 w 6858001"/>
              <a:gd name="connsiteY1" fmla="*/ 1344715 h 5529377"/>
              <a:gd name="connsiteX2" fmla="*/ 6858000 w 6858001"/>
              <a:gd name="connsiteY2" fmla="*/ 1344715 h 5529377"/>
              <a:gd name="connsiteX3" fmla="*/ 6858000 w 6858001"/>
              <a:gd name="connsiteY3" fmla="*/ 5529377 h 5529377"/>
              <a:gd name="connsiteX4" fmla="*/ 0 w 6858001"/>
              <a:gd name="connsiteY4" fmla="*/ 5529376 h 5529377"/>
              <a:gd name="connsiteX5" fmla="*/ 0 w 6858001"/>
              <a:gd name="connsiteY5" fmla="*/ 891096 h 5529377"/>
              <a:gd name="connsiteX6" fmla="*/ 1 w 6858001"/>
              <a:gd name="connsiteY6" fmla="*/ 891096 h 5529377"/>
              <a:gd name="connsiteX7" fmla="*/ 1 w 6858001"/>
              <a:gd name="connsiteY7" fmla="*/ 0 h 5529377"/>
              <a:gd name="connsiteX8" fmla="*/ 40463 w 6858001"/>
              <a:gd name="connsiteY8" fmla="*/ 5883 h 5529377"/>
              <a:gd name="connsiteX9" fmla="*/ 159107 w 6858001"/>
              <a:gd name="connsiteY9" fmla="*/ 23196 h 5529377"/>
              <a:gd name="connsiteX10" fmla="*/ 245518 w 6858001"/>
              <a:gd name="connsiteY10" fmla="*/ 35299 h 5529377"/>
              <a:gd name="connsiteX11" fmla="*/ 348388 w 6858001"/>
              <a:gd name="connsiteY11" fmla="*/ 48073 h 5529377"/>
              <a:gd name="connsiteX12" fmla="*/ 470460 w 6858001"/>
              <a:gd name="connsiteY12" fmla="*/ 63369 h 5529377"/>
              <a:gd name="connsiteX13" fmla="*/ 605563 w 6858001"/>
              <a:gd name="connsiteY13" fmla="*/ 79506 h 5529377"/>
              <a:gd name="connsiteX14" fmla="*/ 757810 w 6858001"/>
              <a:gd name="connsiteY14" fmla="*/ 96483 h 5529377"/>
              <a:gd name="connsiteX15" fmla="*/ 923774 w 6858001"/>
              <a:gd name="connsiteY15" fmla="*/ 114469 h 5529377"/>
              <a:gd name="connsiteX16" fmla="*/ 1104139 w 6858001"/>
              <a:gd name="connsiteY16" fmla="*/ 132454 h 5529377"/>
              <a:gd name="connsiteX17" fmla="*/ 1296163 w 6858001"/>
              <a:gd name="connsiteY17" fmla="*/ 150776 h 5529377"/>
              <a:gd name="connsiteX18" fmla="*/ 1503275 w 6858001"/>
              <a:gd name="connsiteY18" fmla="*/ 167753 h 5529377"/>
              <a:gd name="connsiteX19" fmla="*/ 1719988 w 6858001"/>
              <a:gd name="connsiteY19" fmla="*/ 184058 h 5529377"/>
              <a:gd name="connsiteX20" fmla="*/ 1949045 w 6858001"/>
              <a:gd name="connsiteY20" fmla="*/ 198849 h 5529377"/>
              <a:gd name="connsiteX21" fmla="*/ 2187703 w 6858001"/>
              <a:gd name="connsiteY21" fmla="*/ 212969 h 5529377"/>
              <a:gd name="connsiteX22" fmla="*/ 2436649 w 6858001"/>
              <a:gd name="connsiteY22" fmla="*/ 226248 h 5529377"/>
              <a:gd name="connsiteX23" fmla="*/ 2564208 w 6858001"/>
              <a:gd name="connsiteY23" fmla="*/ 230955 h 5529377"/>
              <a:gd name="connsiteX24" fmla="*/ 2694509 w 6858001"/>
              <a:gd name="connsiteY24" fmla="*/ 236165 h 5529377"/>
              <a:gd name="connsiteX25" fmla="*/ 2826868 w 6858001"/>
              <a:gd name="connsiteY25" fmla="*/ 241040 h 5529377"/>
              <a:gd name="connsiteX26" fmla="*/ 2959914 w 6858001"/>
              <a:gd name="connsiteY26" fmla="*/ 244234 h 5529377"/>
              <a:gd name="connsiteX27" fmla="*/ 3095702 w 6858001"/>
              <a:gd name="connsiteY27" fmla="*/ 247091 h 5529377"/>
              <a:gd name="connsiteX28" fmla="*/ 3232862 w 6858001"/>
              <a:gd name="connsiteY28" fmla="*/ 250117 h 5529377"/>
              <a:gd name="connsiteX29" fmla="*/ 3372765 w 6858001"/>
              <a:gd name="connsiteY29" fmla="*/ 252134 h 5529377"/>
              <a:gd name="connsiteX30" fmla="*/ 3514040 w 6858001"/>
              <a:gd name="connsiteY30" fmla="*/ 252134 h 5529377"/>
              <a:gd name="connsiteX31" fmla="*/ 3656686 w 6858001"/>
              <a:gd name="connsiteY31" fmla="*/ 253142 h 5529377"/>
              <a:gd name="connsiteX32" fmla="*/ 3800704 w 6858001"/>
              <a:gd name="connsiteY32" fmla="*/ 252134 h 5529377"/>
              <a:gd name="connsiteX33" fmla="*/ 3946780 w 6858001"/>
              <a:gd name="connsiteY33" fmla="*/ 250117 h 5529377"/>
              <a:gd name="connsiteX34" fmla="*/ 4092855 w 6858001"/>
              <a:gd name="connsiteY34" fmla="*/ 248268 h 5529377"/>
              <a:gd name="connsiteX35" fmla="*/ 4240988 w 6858001"/>
              <a:gd name="connsiteY35" fmla="*/ 244234 h 5529377"/>
              <a:gd name="connsiteX36" fmla="*/ 4390492 w 6858001"/>
              <a:gd name="connsiteY36" fmla="*/ 240032 h 5529377"/>
              <a:gd name="connsiteX37" fmla="*/ 4539997 w 6858001"/>
              <a:gd name="connsiteY37" fmla="*/ 235157 h 5529377"/>
              <a:gd name="connsiteX38" fmla="*/ 4690873 w 6858001"/>
              <a:gd name="connsiteY38" fmla="*/ 228266 h 5529377"/>
              <a:gd name="connsiteX39" fmla="*/ 4843120 w 6858001"/>
              <a:gd name="connsiteY39" fmla="*/ 220029 h 5529377"/>
              <a:gd name="connsiteX40" fmla="*/ 4996054 w 6858001"/>
              <a:gd name="connsiteY40" fmla="*/ 212129 h 5529377"/>
              <a:gd name="connsiteX41" fmla="*/ 5148987 w 6858001"/>
              <a:gd name="connsiteY41" fmla="*/ 202044 h 5529377"/>
              <a:gd name="connsiteX42" fmla="*/ 5303978 w 6858001"/>
              <a:gd name="connsiteY42" fmla="*/ 189941 h 5529377"/>
              <a:gd name="connsiteX43" fmla="*/ 5456911 w 6858001"/>
              <a:gd name="connsiteY43" fmla="*/ 177839 h 5529377"/>
              <a:gd name="connsiteX44" fmla="*/ 5612588 w 6858001"/>
              <a:gd name="connsiteY44" fmla="*/ 163887 h 5529377"/>
              <a:gd name="connsiteX45" fmla="*/ 5768950 w 6858001"/>
              <a:gd name="connsiteY45" fmla="*/ 148591 h 5529377"/>
              <a:gd name="connsiteX46" fmla="*/ 5923255 w 6858001"/>
              <a:gd name="connsiteY46" fmla="*/ 132455 h 5529377"/>
              <a:gd name="connsiteX47" fmla="*/ 6079618 w 6858001"/>
              <a:gd name="connsiteY47" fmla="*/ 113629 h 5529377"/>
              <a:gd name="connsiteX48" fmla="*/ 6235294 w 6858001"/>
              <a:gd name="connsiteY48" fmla="*/ 93458 h 5529377"/>
              <a:gd name="connsiteX49" fmla="*/ 6391657 w 6858001"/>
              <a:gd name="connsiteY49" fmla="*/ 73455 h 5529377"/>
              <a:gd name="connsiteX50" fmla="*/ 6547333 w 6858001"/>
              <a:gd name="connsiteY50" fmla="*/ 50091 h 5529377"/>
              <a:gd name="connsiteX51" fmla="*/ 6702324 w 6858001"/>
              <a:gd name="connsiteY51" fmla="*/ 26222 h 5529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5529377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5529377"/>
                </a:lnTo>
                <a:lnTo>
                  <a:pt x="0" y="5529376"/>
                </a:lnTo>
                <a:lnTo>
                  <a:pt x="0" y="891096"/>
                </a:lnTo>
                <a:lnTo>
                  <a:pt x="1" y="891096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8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5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4" y="252134"/>
                </a:lnTo>
                <a:lnTo>
                  <a:pt x="3946780" y="250117"/>
                </a:lnTo>
                <a:lnTo>
                  <a:pt x="4092855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IN"/>
          </a:p>
        </p:txBody>
      </p:sp>
      <p:pic>
        <p:nvPicPr>
          <p:cNvPr id="6" name="Content Placeholder 5" descr="A screenshot of a test&#10;&#10;AI-generated content may be incorrect.">
            <a:extLst>
              <a:ext uri="{FF2B5EF4-FFF2-40B4-BE49-F238E27FC236}">
                <a16:creationId xmlns:a16="http://schemas.microsoft.com/office/drawing/2014/main" id="{3075D80E-6F23-2F82-032B-C9ADB49B67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" b="37095"/>
          <a:stretch>
            <a:fillRect/>
          </a:stretch>
        </p:blipFill>
        <p:spPr>
          <a:xfrm>
            <a:off x="7194011" y="2251587"/>
            <a:ext cx="4817020" cy="3709642"/>
          </a:xfrm>
          <a:prstGeom prst="rect">
            <a:avLst/>
          </a:prstGeom>
          <a:effectLst/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C137128D-E594-4905-9F76-E385F0831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21B86E1-136F-E9D1-BC2D-8B11808D8D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5616216" cy="3785419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Majority of the loans are fully paid with 85.41 % </a:t>
            </a:r>
          </a:p>
          <a:p>
            <a:r>
              <a:rPr lang="en-US">
                <a:solidFill>
                  <a:srgbClr val="FFFFFF"/>
                </a:solidFill>
              </a:rPr>
              <a:t>A significant portion of loans are charged off </a:t>
            </a:r>
          </a:p>
          <a:p>
            <a:r>
              <a:rPr lang="en-US">
                <a:solidFill>
                  <a:srgbClr val="FFFFFF"/>
                </a:solidFill>
              </a:rPr>
              <a:t>Indicates class imbalance in loan outcome </a:t>
            </a:r>
          </a:p>
        </p:txBody>
      </p:sp>
    </p:spTree>
    <p:extLst>
      <p:ext uri="{BB962C8B-B14F-4D97-AF65-F5344CB8AC3E}">
        <p14:creationId xmlns:p14="http://schemas.microsoft.com/office/powerpoint/2010/main" val="30798210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F2878-5063-C3A7-A857-C223660C6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Loan Amount Distribution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7937D6-727A-EDF9-63B6-E4E127D69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716" y="2052918"/>
            <a:ext cx="5085347" cy="4195481"/>
          </a:xfrm>
        </p:spPr>
        <p:txBody>
          <a:bodyPr/>
          <a:lstStyle/>
          <a:p>
            <a:r>
              <a:rPr lang="en-US" dirty="0"/>
              <a:t>Most loan fall within a moderate loan amount range </a:t>
            </a:r>
          </a:p>
          <a:p>
            <a:r>
              <a:rPr lang="en-US" dirty="0"/>
              <a:t>Very high loan amount are comparatively rare</a:t>
            </a:r>
          </a:p>
          <a:p>
            <a:r>
              <a:rPr lang="en-US" dirty="0"/>
              <a:t>Distribution shows right skewed behavior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62AC34-97FE-04E5-A391-9D8554CC7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4027" y="1427748"/>
            <a:ext cx="6537973" cy="5430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536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80C0D3-0C4D-2A90-9530-A384B0F5E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1" y="629266"/>
            <a:ext cx="4166510" cy="1622321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Interest rate vs Loan Status</a:t>
            </a:r>
            <a:endParaRPr lang="en-IN">
              <a:solidFill>
                <a:srgbClr val="EBEBEB"/>
              </a:solidFill>
            </a:endParaRPr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IN"/>
          </a:p>
        </p:txBody>
      </p:sp>
      <p:pic>
        <p:nvPicPr>
          <p:cNvPr id="4" name="Picture 3" descr="A graph with blue and white lines&#10;&#10;AI-generated content may be incorrect.">
            <a:extLst>
              <a:ext uri="{FF2B5EF4-FFF2-40B4-BE49-F238E27FC236}">
                <a16:creationId xmlns:a16="http://schemas.microsoft.com/office/drawing/2014/main" id="{8936DF0F-0BD6-2410-5A2F-34098899FB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3992" y="1589661"/>
            <a:ext cx="5449889" cy="3678675"/>
          </a:xfrm>
          <a:prstGeom prst="rect">
            <a:avLst/>
          </a:prstGeom>
          <a:effectLst/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0E116-15FE-B9DD-6A7E-B5C9105EB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4166509" cy="378541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EBEBEB"/>
                </a:solidFill>
              </a:rPr>
              <a:t>Charged off loans shows higher median interest rates</a:t>
            </a:r>
          </a:p>
          <a:p>
            <a:r>
              <a:rPr lang="en-US" dirty="0">
                <a:solidFill>
                  <a:srgbClr val="EBEBEB"/>
                </a:solidFill>
              </a:rPr>
              <a:t>Higher interest rate are associated with the higher default risk </a:t>
            </a:r>
          </a:p>
          <a:p>
            <a:r>
              <a:rPr lang="en-US" dirty="0">
                <a:solidFill>
                  <a:srgbClr val="EBEBEB"/>
                </a:solidFill>
              </a:rPr>
              <a:t>Confirms risk-based pricing strategy</a:t>
            </a:r>
          </a:p>
          <a:p>
            <a:endParaRPr lang="en-IN" dirty="0">
              <a:solidFill>
                <a:srgbClr val="EBEBE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7590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F3FC718-FDE3-4EF7-921E-A5F374EAF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8A2B51-0B51-2894-9241-560F005DC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55" y="1447799"/>
            <a:ext cx="3108626" cy="1444752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200">
                <a:solidFill>
                  <a:srgbClr val="EBEBEB"/>
                </a:solidFill>
              </a:rPr>
              <a:t>Annual Income vs Loan Status</a:t>
            </a:r>
            <a:endParaRPr lang="en-IN" sz="3200">
              <a:solidFill>
                <a:srgbClr val="EBEBEB"/>
              </a:solidFill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FAA0F719-3DC8-4F08-AD8F-5A845658C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7DCB61BE-FA0F-4EFB-BE0E-268BAD8E3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4747655" y="-586345"/>
            <a:ext cx="6858001" cy="8030691"/>
          </a:xfrm>
          <a:custGeom>
            <a:avLst/>
            <a:gdLst>
              <a:gd name="connsiteX0" fmla="*/ 6858001 w 6858001"/>
              <a:gd name="connsiteY0" fmla="*/ 1177 h 8030691"/>
              <a:gd name="connsiteX1" fmla="*/ 6858001 w 6858001"/>
              <a:gd name="connsiteY1" fmla="*/ 1344715 h 8030691"/>
              <a:gd name="connsiteX2" fmla="*/ 6858000 w 6858001"/>
              <a:gd name="connsiteY2" fmla="*/ 1344715 h 8030691"/>
              <a:gd name="connsiteX3" fmla="*/ 6858000 w 6858001"/>
              <a:gd name="connsiteY3" fmla="*/ 8030691 h 8030691"/>
              <a:gd name="connsiteX4" fmla="*/ 0 w 6858001"/>
              <a:gd name="connsiteY4" fmla="*/ 8030690 h 8030691"/>
              <a:gd name="connsiteX5" fmla="*/ 0 w 6858001"/>
              <a:gd name="connsiteY5" fmla="*/ 477747 h 8030691"/>
              <a:gd name="connsiteX6" fmla="*/ 1 w 6858001"/>
              <a:gd name="connsiteY6" fmla="*/ 477747 h 8030691"/>
              <a:gd name="connsiteX7" fmla="*/ 1 w 6858001"/>
              <a:gd name="connsiteY7" fmla="*/ 0 h 8030691"/>
              <a:gd name="connsiteX8" fmla="*/ 40463 w 6858001"/>
              <a:gd name="connsiteY8" fmla="*/ 5883 h 8030691"/>
              <a:gd name="connsiteX9" fmla="*/ 159107 w 6858001"/>
              <a:gd name="connsiteY9" fmla="*/ 23196 h 8030691"/>
              <a:gd name="connsiteX10" fmla="*/ 245518 w 6858001"/>
              <a:gd name="connsiteY10" fmla="*/ 35299 h 8030691"/>
              <a:gd name="connsiteX11" fmla="*/ 348388 w 6858001"/>
              <a:gd name="connsiteY11" fmla="*/ 48074 h 8030691"/>
              <a:gd name="connsiteX12" fmla="*/ 470460 w 6858001"/>
              <a:gd name="connsiteY12" fmla="*/ 63370 h 8030691"/>
              <a:gd name="connsiteX13" fmla="*/ 605563 w 6858001"/>
              <a:gd name="connsiteY13" fmla="*/ 79507 h 8030691"/>
              <a:gd name="connsiteX14" fmla="*/ 757810 w 6858001"/>
              <a:gd name="connsiteY14" fmla="*/ 96484 h 8030691"/>
              <a:gd name="connsiteX15" fmla="*/ 923774 w 6858001"/>
              <a:gd name="connsiteY15" fmla="*/ 114469 h 8030691"/>
              <a:gd name="connsiteX16" fmla="*/ 1104139 w 6858001"/>
              <a:gd name="connsiteY16" fmla="*/ 132455 h 8030691"/>
              <a:gd name="connsiteX17" fmla="*/ 1296163 w 6858001"/>
              <a:gd name="connsiteY17" fmla="*/ 150776 h 8030691"/>
              <a:gd name="connsiteX18" fmla="*/ 1503275 w 6858001"/>
              <a:gd name="connsiteY18" fmla="*/ 167753 h 8030691"/>
              <a:gd name="connsiteX19" fmla="*/ 1719988 w 6858001"/>
              <a:gd name="connsiteY19" fmla="*/ 184058 h 8030691"/>
              <a:gd name="connsiteX20" fmla="*/ 1949045 w 6858001"/>
              <a:gd name="connsiteY20" fmla="*/ 198850 h 8030691"/>
              <a:gd name="connsiteX21" fmla="*/ 2187703 w 6858001"/>
              <a:gd name="connsiteY21" fmla="*/ 212969 h 8030691"/>
              <a:gd name="connsiteX22" fmla="*/ 2436649 w 6858001"/>
              <a:gd name="connsiteY22" fmla="*/ 226249 h 8030691"/>
              <a:gd name="connsiteX23" fmla="*/ 2564208 w 6858001"/>
              <a:gd name="connsiteY23" fmla="*/ 230955 h 8030691"/>
              <a:gd name="connsiteX24" fmla="*/ 2694509 w 6858001"/>
              <a:gd name="connsiteY24" fmla="*/ 236166 h 8030691"/>
              <a:gd name="connsiteX25" fmla="*/ 2826869 w 6858001"/>
              <a:gd name="connsiteY25" fmla="*/ 241040 h 8030691"/>
              <a:gd name="connsiteX26" fmla="*/ 2959914 w 6858001"/>
              <a:gd name="connsiteY26" fmla="*/ 244234 h 8030691"/>
              <a:gd name="connsiteX27" fmla="*/ 3095702 w 6858001"/>
              <a:gd name="connsiteY27" fmla="*/ 247092 h 8030691"/>
              <a:gd name="connsiteX28" fmla="*/ 3232862 w 6858001"/>
              <a:gd name="connsiteY28" fmla="*/ 250117 h 8030691"/>
              <a:gd name="connsiteX29" fmla="*/ 3372766 w 6858001"/>
              <a:gd name="connsiteY29" fmla="*/ 252134 h 8030691"/>
              <a:gd name="connsiteX30" fmla="*/ 3514040 w 6858001"/>
              <a:gd name="connsiteY30" fmla="*/ 252134 h 8030691"/>
              <a:gd name="connsiteX31" fmla="*/ 3656686 w 6858001"/>
              <a:gd name="connsiteY31" fmla="*/ 253143 h 8030691"/>
              <a:gd name="connsiteX32" fmla="*/ 3800705 w 6858001"/>
              <a:gd name="connsiteY32" fmla="*/ 252134 h 8030691"/>
              <a:gd name="connsiteX33" fmla="*/ 3946780 w 6858001"/>
              <a:gd name="connsiteY33" fmla="*/ 250117 h 8030691"/>
              <a:gd name="connsiteX34" fmla="*/ 4092856 w 6858001"/>
              <a:gd name="connsiteY34" fmla="*/ 248268 h 8030691"/>
              <a:gd name="connsiteX35" fmla="*/ 4240988 w 6858001"/>
              <a:gd name="connsiteY35" fmla="*/ 244234 h 8030691"/>
              <a:gd name="connsiteX36" fmla="*/ 4390492 w 6858001"/>
              <a:gd name="connsiteY36" fmla="*/ 240032 h 8030691"/>
              <a:gd name="connsiteX37" fmla="*/ 4539997 w 6858001"/>
              <a:gd name="connsiteY37" fmla="*/ 235157 h 8030691"/>
              <a:gd name="connsiteX38" fmla="*/ 4690873 w 6858001"/>
              <a:gd name="connsiteY38" fmla="*/ 228266 h 8030691"/>
              <a:gd name="connsiteX39" fmla="*/ 4843120 w 6858001"/>
              <a:gd name="connsiteY39" fmla="*/ 220029 h 8030691"/>
              <a:gd name="connsiteX40" fmla="*/ 4996054 w 6858001"/>
              <a:gd name="connsiteY40" fmla="*/ 212129 h 8030691"/>
              <a:gd name="connsiteX41" fmla="*/ 5148987 w 6858001"/>
              <a:gd name="connsiteY41" fmla="*/ 202044 h 8030691"/>
              <a:gd name="connsiteX42" fmla="*/ 5303978 w 6858001"/>
              <a:gd name="connsiteY42" fmla="*/ 189941 h 8030691"/>
              <a:gd name="connsiteX43" fmla="*/ 5456911 w 6858001"/>
              <a:gd name="connsiteY43" fmla="*/ 177839 h 8030691"/>
              <a:gd name="connsiteX44" fmla="*/ 5612588 w 6858001"/>
              <a:gd name="connsiteY44" fmla="*/ 163887 h 8030691"/>
              <a:gd name="connsiteX45" fmla="*/ 5768950 w 6858001"/>
              <a:gd name="connsiteY45" fmla="*/ 148591 h 8030691"/>
              <a:gd name="connsiteX46" fmla="*/ 5923255 w 6858001"/>
              <a:gd name="connsiteY46" fmla="*/ 132455 h 8030691"/>
              <a:gd name="connsiteX47" fmla="*/ 6079618 w 6858001"/>
              <a:gd name="connsiteY47" fmla="*/ 113629 h 8030691"/>
              <a:gd name="connsiteX48" fmla="*/ 6235294 w 6858001"/>
              <a:gd name="connsiteY48" fmla="*/ 93458 h 8030691"/>
              <a:gd name="connsiteX49" fmla="*/ 6391657 w 6858001"/>
              <a:gd name="connsiteY49" fmla="*/ 73455 h 8030691"/>
              <a:gd name="connsiteX50" fmla="*/ 6547333 w 6858001"/>
              <a:gd name="connsiteY50" fmla="*/ 50091 h 8030691"/>
              <a:gd name="connsiteX51" fmla="*/ 6702324 w 6858001"/>
              <a:gd name="connsiteY51" fmla="*/ 26222 h 8030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8030691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8030691"/>
                </a:lnTo>
                <a:lnTo>
                  <a:pt x="0" y="8030690"/>
                </a:lnTo>
                <a:lnTo>
                  <a:pt x="0" y="477747"/>
                </a:lnTo>
                <a:lnTo>
                  <a:pt x="1" y="477747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4"/>
                </a:lnTo>
                <a:lnTo>
                  <a:pt x="470460" y="63370"/>
                </a:lnTo>
                <a:lnTo>
                  <a:pt x="605563" y="79507"/>
                </a:lnTo>
                <a:lnTo>
                  <a:pt x="757810" y="96484"/>
                </a:lnTo>
                <a:lnTo>
                  <a:pt x="923774" y="114469"/>
                </a:lnTo>
                <a:lnTo>
                  <a:pt x="1104139" y="132455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50"/>
                </a:lnTo>
                <a:lnTo>
                  <a:pt x="2187703" y="212969"/>
                </a:lnTo>
                <a:lnTo>
                  <a:pt x="2436649" y="226249"/>
                </a:lnTo>
                <a:lnTo>
                  <a:pt x="2564208" y="230955"/>
                </a:lnTo>
                <a:lnTo>
                  <a:pt x="2694509" y="236166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2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3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4B31EAA-7423-46F7-9B90-4AB2B09C35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12E93-198A-A494-9B91-FFC7B9DB3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855" y="3072385"/>
            <a:ext cx="3108057" cy="2947415"/>
          </a:xfrm>
        </p:spPr>
        <p:txBody>
          <a:bodyPr>
            <a:normAutofit/>
          </a:bodyPr>
          <a:lstStyle/>
          <a:p>
            <a:r>
              <a:rPr lang="en-US" sz="1400" dirty="0">
                <a:solidFill>
                  <a:srgbClr val="FFFFFF"/>
                </a:solidFill>
              </a:rPr>
              <a:t>Fully paid loans tends to have higher median income </a:t>
            </a:r>
          </a:p>
          <a:p>
            <a:r>
              <a:rPr lang="en-US" sz="1400" dirty="0">
                <a:solidFill>
                  <a:srgbClr val="FFFFFF"/>
                </a:solidFill>
              </a:rPr>
              <a:t>Lower income borrower shows higher default risk </a:t>
            </a:r>
          </a:p>
          <a:p>
            <a:r>
              <a:rPr lang="en-US" sz="1400" dirty="0">
                <a:solidFill>
                  <a:srgbClr val="FFFFFF"/>
                </a:solidFill>
              </a:rPr>
              <a:t>Income stability plays a key role in repayment  </a:t>
            </a:r>
            <a:endParaRPr lang="en-IN" sz="1400" dirty="0">
              <a:solidFill>
                <a:srgbClr val="FFFFFF"/>
              </a:solidFill>
            </a:endParaRPr>
          </a:p>
        </p:txBody>
      </p:sp>
      <p:pic>
        <p:nvPicPr>
          <p:cNvPr id="4" name="Picture 3" descr="A graph of a graph showing a couple of blue squares&#10;&#10;AI-generated content may be incorrect.">
            <a:extLst>
              <a:ext uri="{FF2B5EF4-FFF2-40B4-BE49-F238E27FC236}">
                <a16:creationId xmlns:a16="http://schemas.microsoft.com/office/drawing/2014/main" id="{96BDC2E1-4C1C-06F9-FEA7-FA976B8D0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451" y="1614529"/>
            <a:ext cx="6495847" cy="423854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9508468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F3FC718-FDE3-4EF7-921E-A5F374EAF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E17277-9B0D-C997-0831-47B68CEF3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55" y="1447799"/>
            <a:ext cx="3108626" cy="1444752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200">
                <a:solidFill>
                  <a:srgbClr val="EBEBEB"/>
                </a:solidFill>
              </a:rPr>
              <a:t>Debt-to-Income vs Loan Status</a:t>
            </a:r>
            <a:endParaRPr lang="en-IN" sz="3200">
              <a:solidFill>
                <a:srgbClr val="EBEBEB"/>
              </a:solidFill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FAA0F719-3DC8-4F08-AD8F-5A845658C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7DCB61BE-FA0F-4EFB-BE0E-268BAD8E3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4747655" y="-586345"/>
            <a:ext cx="6858001" cy="8030691"/>
          </a:xfrm>
          <a:custGeom>
            <a:avLst/>
            <a:gdLst>
              <a:gd name="connsiteX0" fmla="*/ 6858001 w 6858001"/>
              <a:gd name="connsiteY0" fmla="*/ 1177 h 8030691"/>
              <a:gd name="connsiteX1" fmla="*/ 6858001 w 6858001"/>
              <a:gd name="connsiteY1" fmla="*/ 1344715 h 8030691"/>
              <a:gd name="connsiteX2" fmla="*/ 6858000 w 6858001"/>
              <a:gd name="connsiteY2" fmla="*/ 1344715 h 8030691"/>
              <a:gd name="connsiteX3" fmla="*/ 6858000 w 6858001"/>
              <a:gd name="connsiteY3" fmla="*/ 8030691 h 8030691"/>
              <a:gd name="connsiteX4" fmla="*/ 0 w 6858001"/>
              <a:gd name="connsiteY4" fmla="*/ 8030690 h 8030691"/>
              <a:gd name="connsiteX5" fmla="*/ 0 w 6858001"/>
              <a:gd name="connsiteY5" fmla="*/ 477747 h 8030691"/>
              <a:gd name="connsiteX6" fmla="*/ 1 w 6858001"/>
              <a:gd name="connsiteY6" fmla="*/ 477747 h 8030691"/>
              <a:gd name="connsiteX7" fmla="*/ 1 w 6858001"/>
              <a:gd name="connsiteY7" fmla="*/ 0 h 8030691"/>
              <a:gd name="connsiteX8" fmla="*/ 40463 w 6858001"/>
              <a:gd name="connsiteY8" fmla="*/ 5883 h 8030691"/>
              <a:gd name="connsiteX9" fmla="*/ 159107 w 6858001"/>
              <a:gd name="connsiteY9" fmla="*/ 23196 h 8030691"/>
              <a:gd name="connsiteX10" fmla="*/ 245518 w 6858001"/>
              <a:gd name="connsiteY10" fmla="*/ 35299 h 8030691"/>
              <a:gd name="connsiteX11" fmla="*/ 348388 w 6858001"/>
              <a:gd name="connsiteY11" fmla="*/ 48074 h 8030691"/>
              <a:gd name="connsiteX12" fmla="*/ 470460 w 6858001"/>
              <a:gd name="connsiteY12" fmla="*/ 63370 h 8030691"/>
              <a:gd name="connsiteX13" fmla="*/ 605563 w 6858001"/>
              <a:gd name="connsiteY13" fmla="*/ 79507 h 8030691"/>
              <a:gd name="connsiteX14" fmla="*/ 757810 w 6858001"/>
              <a:gd name="connsiteY14" fmla="*/ 96484 h 8030691"/>
              <a:gd name="connsiteX15" fmla="*/ 923774 w 6858001"/>
              <a:gd name="connsiteY15" fmla="*/ 114469 h 8030691"/>
              <a:gd name="connsiteX16" fmla="*/ 1104139 w 6858001"/>
              <a:gd name="connsiteY16" fmla="*/ 132455 h 8030691"/>
              <a:gd name="connsiteX17" fmla="*/ 1296163 w 6858001"/>
              <a:gd name="connsiteY17" fmla="*/ 150776 h 8030691"/>
              <a:gd name="connsiteX18" fmla="*/ 1503275 w 6858001"/>
              <a:gd name="connsiteY18" fmla="*/ 167753 h 8030691"/>
              <a:gd name="connsiteX19" fmla="*/ 1719988 w 6858001"/>
              <a:gd name="connsiteY19" fmla="*/ 184058 h 8030691"/>
              <a:gd name="connsiteX20" fmla="*/ 1949045 w 6858001"/>
              <a:gd name="connsiteY20" fmla="*/ 198850 h 8030691"/>
              <a:gd name="connsiteX21" fmla="*/ 2187703 w 6858001"/>
              <a:gd name="connsiteY21" fmla="*/ 212969 h 8030691"/>
              <a:gd name="connsiteX22" fmla="*/ 2436649 w 6858001"/>
              <a:gd name="connsiteY22" fmla="*/ 226249 h 8030691"/>
              <a:gd name="connsiteX23" fmla="*/ 2564208 w 6858001"/>
              <a:gd name="connsiteY23" fmla="*/ 230955 h 8030691"/>
              <a:gd name="connsiteX24" fmla="*/ 2694509 w 6858001"/>
              <a:gd name="connsiteY24" fmla="*/ 236166 h 8030691"/>
              <a:gd name="connsiteX25" fmla="*/ 2826869 w 6858001"/>
              <a:gd name="connsiteY25" fmla="*/ 241040 h 8030691"/>
              <a:gd name="connsiteX26" fmla="*/ 2959914 w 6858001"/>
              <a:gd name="connsiteY26" fmla="*/ 244234 h 8030691"/>
              <a:gd name="connsiteX27" fmla="*/ 3095702 w 6858001"/>
              <a:gd name="connsiteY27" fmla="*/ 247092 h 8030691"/>
              <a:gd name="connsiteX28" fmla="*/ 3232862 w 6858001"/>
              <a:gd name="connsiteY28" fmla="*/ 250117 h 8030691"/>
              <a:gd name="connsiteX29" fmla="*/ 3372766 w 6858001"/>
              <a:gd name="connsiteY29" fmla="*/ 252134 h 8030691"/>
              <a:gd name="connsiteX30" fmla="*/ 3514040 w 6858001"/>
              <a:gd name="connsiteY30" fmla="*/ 252134 h 8030691"/>
              <a:gd name="connsiteX31" fmla="*/ 3656686 w 6858001"/>
              <a:gd name="connsiteY31" fmla="*/ 253143 h 8030691"/>
              <a:gd name="connsiteX32" fmla="*/ 3800705 w 6858001"/>
              <a:gd name="connsiteY32" fmla="*/ 252134 h 8030691"/>
              <a:gd name="connsiteX33" fmla="*/ 3946780 w 6858001"/>
              <a:gd name="connsiteY33" fmla="*/ 250117 h 8030691"/>
              <a:gd name="connsiteX34" fmla="*/ 4092856 w 6858001"/>
              <a:gd name="connsiteY34" fmla="*/ 248268 h 8030691"/>
              <a:gd name="connsiteX35" fmla="*/ 4240988 w 6858001"/>
              <a:gd name="connsiteY35" fmla="*/ 244234 h 8030691"/>
              <a:gd name="connsiteX36" fmla="*/ 4390492 w 6858001"/>
              <a:gd name="connsiteY36" fmla="*/ 240032 h 8030691"/>
              <a:gd name="connsiteX37" fmla="*/ 4539997 w 6858001"/>
              <a:gd name="connsiteY37" fmla="*/ 235157 h 8030691"/>
              <a:gd name="connsiteX38" fmla="*/ 4690873 w 6858001"/>
              <a:gd name="connsiteY38" fmla="*/ 228266 h 8030691"/>
              <a:gd name="connsiteX39" fmla="*/ 4843120 w 6858001"/>
              <a:gd name="connsiteY39" fmla="*/ 220029 h 8030691"/>
              <a:gd name="connsiteX40" fmla="*/ 4996054 w 6858001"/>
              <a:gd name="connsiteY40" fmla="*/ 212129 h 8030691"/>
              <a:gd name="connsiteX41" fmla="*/ 5148987 w 6858001"/>
              <a:gd name="connsiteY41" fmla="*/ 202044 h 8030691"/>
              <a:gd name="connsiteX42" fmla="*/ 5303978 w 6858001"/>
              <a:gd name="connsiteY42" fmla="*/ 189941 h 8030691"/>
              <a:gd name="connsiteX43" fmla="*/ 5456911 w 6858001"/>
              <a:gd name="connsiteY43" fmla="*/ 177839 h 8030691"/>
              <a:gd name="connsiteX44" fmla="*/ 5612588 w 6858001"/>
              <a:gd name="connsiteY44" fmla="*/ 163887 h 8030691"/>
              <a:gd name="connsiteX45" fmla="*/ 5768950 w 6858001"/>
              <a:gd name="connsiteY45" fmla="*/ 148591 h 8030691"/>
              <a:gd name="connsiteX46" fmla="*/ 5923255 w 6858001"/>
              <a:gd name="connsiteY46" fmla="*/ 132455 h 8030691"/>
              <a:gd name="connsiteX47" fmla="*/ 6079618 w 6858001"/>
              <a:gd name="connsiteY47" fmla="*/ 113629 h 8030691"/>
              <a:gd name="connsiteX48" fmla="*/ 6235294 w 6858001"/>
              <a:gd name="connsiteY48" fmla="*/ 93458 h 8030691"/>
              <a:gd name="connsiteX49" fmla="*/ 6391657 w 6858001"/>
              <a:gd name="connsiteY49" fmla="*/ 73455 h 8030691"/>
              <a:gd name="connsiteX50" fmla="*/ 6547333 w 6858001"/>
              <a:gd name="connsiteY50" fmla="*/ 50091 h 8030691"/>
              <a:gd name="connsiteX51" fmla="*/ 6702324 w 6858001"/>
              <a:gd name="connsiteY51" fmla="*/ 26222 h 8030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8030691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8030691"/>
                </a:lnTo>
                <a:lnTo>
                  <a:pt x="0" y="8030690"/>
                </a:lnTo>
                <a:lnTo>
                  <a:pt x="0" y="477747"/>
                </a:lnTo>
                <a:lnTo>
                  <a:pt x="1" y="477747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4"/>
                </a:lnTo>
                <a:lnTo>
                  <a:pt x="470460" y="63370"/>
                </a:lnTo>
                <a:lnTo>
                  <a:pt x="605563" y="79507"/>
                </a:lnTo>
                <a:lnTo>
                  <a:pt x="757810" y="96484"/>
                </a:lnTo>
                <a:lnTo>
                  <a:pt x="923774" y="114469"/>
                </a:lnTo>
                <a:lnTo>
                  <a:pt x="1104139" y="132455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50"/>
                </a:lnTo>
                <a:lnTo>
                  <a:pt x="2187703" y="212969"/>
                </a:lnTo>
                <a:lnTo>
                  <a:pt x="2436649" y="226249"/>
                </a:lnTo>
                <a:lnTo>
                  <a:pt x="2564208" y="230955"/>
                </a:lnTo>
                <a:lnTo>
                  <a:pt x="2694509" y="236166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2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3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4B31EAA-7423-46F7-9B90-4AB2B09C35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34593-9D2C-9105-D2C7-EBC727E4AD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855" y="3072385"/>
            <a:ext cx="3108057" cy="2947415"/>
          </a:xfrm>
        </p:spPr>
        <p:txBody>
          <a:bodyPr>
            <a:normAutofit/>
          </a:bodyPr>
          <a:lstStyle/>
          <a:p>
            <a:r>
              <a:rPr lang="en-US" sz="1400" dirty="0">
                <a:solidFill>
                  <a:srgbClr val="FFFFFF"/>
                </a:solidFill>
              </a:rPr>
              <a:t>Charged off loans shows higher </a:t>
            </a:r>
            <a:r>
              <a:rPr lang="en-US" sz="1400" dirty="0" err="1">
                <a:solidFill>
                  <a:srgbClr val="FFFFFF"/>
                </a:solidFill>
              </a:rPr>
              <a:t>dti</a:t>
            </a:r>
            <a:r>
              <a:rPr lang="en-US" sz="1400" dirty="0">
                <a:solidFill>
                  <a:srgbClr val="FFFFFF"/>
                </a:solidFill>
              </a:rPr>
              <a:t> values </a:t>
            </a:r>
          </a:p>
          <a:p>
            <a:r>
              <a:rPr lang="en-US" sz="1400" dirty="0">
                <a:solidFill>
                  <a:srgbClr val="FFFFFF"/>
                </a:solidFill>
              </a:rPr>
              <a:t>Higher debt burden increases default risk </a:t>
            </a:r>
          </a:p>
          <a:p>
            <a:r>
              <a:rPr lang="en-US" sz="1400" dirty="0">
                <a:solidFill>
                  <a:srgbClr val="FFFFFF"/>
                </a:solidFill>
              </a:rPr>
              <a:t>DTI is  a strong indicator of borrower financial stress </a:t>
            </a:r>
            <a:endParaRPr lang="en-IN" sz="1400" dirty="0">
              <a:solidFill>
                <a:srgbClr val="FFFFF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BF9CAE-8C87-B5D9-164C-C9149C74A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451" y="1500852"/>
            <a:ext cx="6495847" cy="4465895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5446140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915B0-0E36-A2F6-A832-586E94332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669" y="629266"/>
            <a:ext cx="3330328" cy="1641986"/>
          </a:xfrm>
        </p:spPr>
        <p:txBody>
          <a:bodyPr>
            <a:normAutofit fontScale="90000"/>
          </a:bodyPr>
          <a:lstStyle/>
          <a:p>
            <a:r>
              <a:rPr lang="en-US" dirty="0"/>
              <a:t>Loan Grade vs Loan Status</a:t>
            </a:r>
            <a:endParaRPr lang="en-IN" dirty="0"/>
          </a:p>
        </p:txBody>
      </p:sp>
      <p:pic>
        <p:nvPicPr>
          <p:cNvPr id="4" name="Picture 3" descr="A graph with numbers and a bar&#10;&#10;AI-generated content may be incorrect.">
            <a:extLst>
              <a:ext uri="{FF2B5EF4-FFF2-40B4-BE49-F238E27FC236}">
                <a16:creationId xmlns:a16="http://schemas.microsoft.com/office/drawing/2014/main" id="{C7ABB3BA-EF26-76BE-6C9B-AC066AF065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99" r="24868" b="-1"/>
          <a:stretch>
            <a:fillRect/>
          </a:stretch>
        </p:blipFill>
        <p:spPr>
          <a:xfrm>
            <a:off x="4363453" y="10"/>
            <a:ext cx="7828547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26E2FAE-FA60-497B-B2CB-7702C6FF3A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9BD1A-AF12-A0D7-904D-0DF2EA2C43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669" y="2438400"/>
            <a:ext cx="3330328" cy="3809999"/>
          </a:xfrm>
        </p:spPr>
        <p:txBody>
          <a:bodyPr>
            <a:normAutofit/>
          </a:bodyPr>
          <a:lstStyle/>
          <a:p>
            <a:r>
              <a:rPr lang="en-US" dirty="0"/>
              <a:t>Higher grade loans (A,B) shows higher default counts due to large loan volume </a:t>
            </a:r>
          </a:p>
          <a:p>
            <a:r>
              <a:rPr lang="en-US" dirty="0"/>
              <a:t>Lower grades have fewer loans but higher relative  risk </a:t>
            </a:r>
          </a:p>
          <a:p>
            <a:r>
              <a:rPr lang="en-US" dirty="0"/>
              <a:t>B=11675,A=10045,C=7834,D=5085,E=2663,F=976,G=229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5323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F3FC718-FDE3-4EF7-921E-A5F374EAF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42AB05-7833-A2E9-1C45-F74E74652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55" y="1447799"/>
            <a:ext cx="3108626" cy="1444752"/>
          </a:xfrm>
        </p:spPr>
        <p:txBody>
          <a:bodyPr anchor="b">
            <a:normAutofit/>
          </a:bodyPr>
          <a:lstStyle/>
          <a:p>
            <a:r>
              <a:rPr lang="en-US" sz="3200">
                <a:solidFill>
                  <a:srgbClr val="EBEBEB"/>
                </a:solidFill>
              </a:rPr>
              <a:t>Term vs Loan Status </a:t>
            </a:r>
            <a:endParaRPr lang="en-IN" sz="3200">
              <a:solidFill>
                <a:srgbClr val="EBEBEB"/>
              </a:solidFill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FAA0F719-3DC8-4F08-AD8F-5A845658C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7DCB61BE-FA0F-4EFB-BE0E-268BAD8E3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4747655" y="-586345"/>
            <a:ext cx="6858001" cy="8030691"/>
          </a:xfrm>
          <a:custGeom>
            <a:avLst/>
            <a:gdLst>
              <a:gd name="connsiteX0" fmla="*/ 6858001 w 6858001"/>
              <a:gd name="connsiteY0" fmla="*/ 1177 h 8030691"/>
              <a:gd name="connsiteX1" fmla="*/ 6858001 w 6858001"/>
              <a:gd name="connsiteY1" fmla="*/ 1344715 h 8030691"/>
              <a:gd name="connsiteX2" fmla="*/ 6858000 w 6858001"/>
              <a:gd name="connsiteY2" fmla="*/ 1344715 h 8030691"/>
              <a:gd name="connsiteX3" fmla="*/ 6858000 w 6858001"/>
              <a:gd name="connsiteY3" fmla="*/ 8030691 h 8030691"/>
              <a:gd name="connsiteX4" fmla="*/ 0 w 6858001"/>
              <a:gd name="connsiteY4" fmla="*/ 8030690 h 8030691"/>
              <a:gd name="connsiteX5" fmla="*/ 0 w 6858001"/>
              <a:gd name="connsiteY5" fmla="*/ 477747 h 8030691"/>
              <a:gd name="connsiteX6" fmla="*/ 1 w 6858001"/>
              <a:gd name="connsiteY6" fmla="*/ 477747 h 8030691"/>
              <a:gd name="connsiteX7" fmla="*/ 1 w 6858001"/>
              <a:gd name="connsiteY7" fmla="*/ 0 h 8030691"/>
              <a:gd name="connsiteX8" fmla="*/ 40463 w 6858001"/>
              <a:gd name="connsiteY8" fmla="*/ 5883 h 8030691"/>
              <a:gd name="connsiteX9" fmla="*/ 159107 w 6858001"/>
              <a:gd name="connsiteY9" fmla="*/ 23196 h 8030691"/>
              <a:gd name="connsiteX10" fmla="*/ 245518 w 6858001"/>
              <a:gd name="connsiteY10" fmla="*/ 35299 h 8030691"/>
              <a:gd name="connsiteX11" fmla="*/ 348388 w 6858001"/>
              <a:gd name="connsiteY11" fmla="*/ 48074 h 8030691"/>
              <a:gd name="connsiteX12" fmla="*/ 470460 w 6858001"/>
              <a:gd name="connsiteY12" fmla="*/ 63370 h 8030691"/>
              <a:gd name="connsiteX13" fmla="*/ 605563 w 6858001"/>
              <a:gd name="connsiteY13" fmla="*/ 79507 h 8030691"/>
              <a:gd name="connsiteX14" fmla="*/ 757810 w 6858001"/>
              <a:gd name="connsiteY14" fmla="*/ 96484 h 8030691"/>
              <a:gd name="connsiteX15" fmla="*/ 923774 w 6858001"/>
              <a:gd name="connsiteY15" fmla="*/ 114469 h 8030691"/>
              <a:gd name="connsiteX16" fmla="*/ 1104139 w 6858001"/>
              <a:gd name="connsiteY16" fmla="*/ 132455 h 8030691"/>
              <a:gd name="connsiteX17" fmla="*/ 1296163 w 6858001"/>
              <a:gd name="connsiteY17" fmla="*/ 150776 h 8030691"/>
              <a:gd name="connsiteX18" fmla="*/ 1503275 w 6858001"/>
              <a:gd name="connsiteY18" fmla="*/ 167753 h 8030691"/>
              <a:gd name="connsiteX19" fmla="*/ 1719988 w 6858001"/>
              <a:gd name="connsiteY19" fmla="*/ 184058 h 8030691"/>
              <a:gd name="connsiteX20" fmla="*/ 1949045 w 6858001"/>
              <a:gd name="connsiteY20" fmla="*/ 198850 h 8030691"/>
              <a:gd name="connsiteX21" fmla="*/ 2187703 w 6858001"/>
              <a:gd name="connsiteY21" fmla="*/ 212969 h 8030691"/>
              <a:gd name="connsiteX22" fmla="*/ 2436649 w 6858001"/>
              <a:gd name="connsiteY22" fmla="*/ 226249 h 8030691"/>
              <a:gd name="connsiteX23" fmla="*/ 2564208 w 6858001"/>
              <a:gd name="connsiteY23" fmla="*/ 230955 h 8030691"/>
              <a:gd name="connsiteX24" fmla="*/ 2694509 w 6858001"/>
              <a:gd name="connsiteY24" fmla="*/ 236166 h 8030691"/>
              <a:gd name="connsiteX25" fmla="*/ 2826869 w 6858001"/>
              <a:gd name="connsiteY25" fmla="*/ 241040 h 8030691"/>
              <a:gd name="connsiteX26" fmla="*/ 2959914 w 6858001"/>
              <a:gd name="connsiteY26" fmla="*/ 244234 h 8030691"/>
              <a:gd name="connsiteX27" fmla="*/ 3095702 w 6858001"/>
              <a:gd name="connsiteY27" fmla="*/ 247092 h 8030691"/>
              <a:gd name="connsiteX28" fmla="*/ 3232862 w 6858001"/>
              <a:gd name="connsiteY28" fmla="*/ 250117 h 8030691"/>
              <a:gd name="connsiteX29" fmla="*/ 3372766 w 6858001"/>
              <a:gd name="connsiteY29" fmla="*/ 252134 h 8030691"/>
              <a:gd name="connsiteX30" fmla="*/ 3514040 w 6858001"/>
              <a:gd name="connsiteY30" fmla="*/ 252134 h 8030691"/>
              <a:gd name="connsiteX31" fmla="*/ 3656686 w 6858001"/>
              <a:gd name="connsiteY31" fmla="*/ 253143 h 8030691"/>
              <a:gd name="connsiteX32" fmla="*/ 3800705 w 6858001"/>
              <a:gd name="connsiteY32" fmla="*/ 252134 h 8030691"/>
              <a:gd name="connsiteX33" fmla="*/ 3946780 w 6858001"/>
              <a:gd name="connsiteY33" fmla="*/ 250117 h 8030691"/>
              <a:gd name="connsiteX34" fmla="*/ 4092856 w 6858001"/>
              <a:gd name="connsiteY34" fmla="*/ 248268 h 8030691"/>
              <a:gd name="connsiteX35" fmla="*/ 4240988 w 6858001"/>
              <a:gd name="connsiteY35" fmla="*/ 244234 h 8030691"/>
              <a:gd name="connsiteX36" fmla="*/ 4390492 w 6858001"/>
              <a:gd name="connsiteY36" fmla="*/ 240032 h 8030691"/>
              <a:gd name="connsiteX37" fmla="*/ 4539997 w 6858001"/>
              <a:gd name="connsiteY37" fmla="*/ 235157 h 8030691"/>
              <a:gd name="connsiteX38" fmla="*/ 4690873 w 6858001"/>
              <a:gd name="connsiteY38" fmla="*/ 228266 h 8030691"/>
              <a:gd name="connsiteX39" fmla="*/ 4843120 w 6858001"/>
              <a:gd name="connsiteY39" fmla="*/ 220029 h 8030691"/>
              <a:gd name="connsiteX40" fmla="*/ 4996054 w 6858001"/>
              <a:gd name="connsiteY40" fmla="*/ 212129 h 8030691"/>
              <a:gd name="connsiteX41" fmla="*/ 5148987 w 6858001"/>
              <a:gd name="connsiteY41" fmla="*/ 202044 h 8030691"/>
              <a:gd name="connsiteX42" fmla="*/ 5303978 w 6858001"/>
              <a:gd name="connsiteY42" fmla="*/ 189941 h 8030691"/>
              <a:gd name="connsiteX43" fmla="*/ 5456911 w 6858001"/>
              <a:gd name="connsiteY43" fmla="*/ 177839 h 8030691"/>
              <a:gd name="connsiteX44" fmla="*/ 5612588 w 6858001"/>
              <a:gd name="connsiteY44" fmla="*/ 163887 h 8030691"/>
              <a:gd name="connsiteX45" fmla="*/ 5768950 w 6858001"/>
              <a:gd name="connsiteY45" fmla="*/ 148591 h 8030691"/>
              <a:gd name="connsiteX46" fmla="*/ 5923255 w 6858001"/>
              <a:gd name="connsiteY46" fmla="*/ 132455 h 8030691"/>
              <a:gd name="connsiteX47" fmla="*/ 6079618 w 6858001"/>
              <a:gd name="connsiteY47" fmla="*/ 113629 h 8030691"/>
              <a:gd name="connsiteX48" fmla="*/ 6235294 w 6858001"/>
              <a:gd name="connsiteY48" fmla="*/ 93458 h 8030691"/>
              <a:gd name="connsiteX49" fmla="*/ 6391657 w 6858001"/>
              <a:gd name="connsiteY49" fmla="*/ 73455 h 8030691"/>
              <a:gd name="connsiteX50" fmla="*/ 6547333 w 6858001"/>
              <a:gd name="connsiteY50" fmla="*/ 50091 h 8030691"/>
              <a:gd name="connsiteX51" fmla="*/ 6702324 w 6858001"/>
              <a:gd name="connsiteY51" fmla="*/ 26222 h 8030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8030691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8030691"/>
                </a:lnTo>
                <a:lnTo>
                  <a:pt x="0" y="8030690"/>
                </a:lnTo>
                <a:lnTo>
                  <a:pt x="0" y="477747"/>
                </a:lnTo>
                <a:lnTo>
                  <a:pt x="1" y="477747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4"/>
                </a:lnTo>
                <a:lnTo>
                  <a:pt x="470460" y="63370"/>
                </a:lnTo>
                <a:lnTo>
                  <a:pt x="605563" y="79507"/>
                </a:lnTo>
                <a:lnTo>
                  <a:pt x="757810" y="96484"/>
                </a:lnTo>
                <a:lnTo>
                  <a:pt x="923774" y="114469"/>
                </a:lnTo>
                <a:lnTo>
                  <a:pt x="1104139" y="132455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50"/>
                </a:lnTo>
                <a:lnTo>
                  <a:pt x="2187703" y="212969"/>
                </a:lnTo>
                <a:lnTo>
                  <a:pt x="2436649" y="226249"/>
                </a:lnTo>
                <a:lnTo>
                  <a:pt x="2564208" y="230955"/>
                </a:lnTo>
                <a:lnTo>
                  <a:pt x="2694509" y="236166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2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3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4B31EAA-7423-46F7-9B90-4AB2B09C35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7F67A-F4E6-BE32-2422-320AFE3901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855" y="3072385"/>
            <a:ext cx="3108057" cy="2947415"/>
          </a:xfrm>
        </p:spPr>
        <p:txBody>
          <a:bodyPr>
            <a:normAutofit lnSpcReduction="10000"/>
          </a:bodyPr>
          <a:lstStyle/>
          <a:p>
            <a:r>
              <a:rPr lang="en-US" sz="1400" dirty="0">
                <a:solidFill>
                  <a:srgbClr val="FFFFFF"/>
                </a:solidFill>
              </a:rPr>
              <a:t>Here there are lower no of applicants for a longer duration but also even though the number is less than too default rates are high </a:t>
            </a:r>
          </a:p>
          <a:p>
            <a:r>
              <a:rPr lang="en-US" sz="1400" dirty="0">
                <a:solidFill>
                  <a:srgbClr val="FFFFFF"/>
                </a:solidFill>
              </a:rPr>
              <a:t>60 months loan shows a higher default risk </a:t>
            </a:r>
          </a:p>
          <a:p>
            <a:r>
              <a:rPr lang="en-US" sz="1400" dirty="0">
                <a:solidFill>
                  <a:srgbClr val="FFFFFF"/>
                </a:solidFill>
              </a:rPr>
              <a:t>Longer loan tenure increases the exposure to risk</a:t>
            </a:r>
          </a:p>
          <a:p>
            <a:r>
              <a:rPr lang="en-US" sz="1400" dirty="0">
                <a:solidFill>
                  <a:srgbClr val="FFFFFF"/>
                </a:solidFill>
              </a:rPr>
              <a:t>Shorter term loans are relatively safer </a:t>
            </a:r>
            <a:endParaRPr lang="en-IN" sz="1400" dirty="0">
              <a:solidFill>
                <a:srgbClr val="FFFFFF"/>
              </a:solidFill>
            </a:endParaRPr>
          </a:p>
        </p:txBody>
      </p:sp>
      <p:pic>
        <p:nvPicPr>
          <p:cNvPr id="4" name="Picture 3" descr="A graph with numbers and a bar&#10;&#10;AI-generated content may be incorrect.">
            <a:extLst>
              <a:ext uri="{FF2B5EF4-FFF2-40B4-BE49-F238E27FC236}">
                <a16:creationId xmlns:a16="http://schemas.microsoft.com/office/drawing/2014/main" id="{95C3A71B-789F-206D-CD90-BA1C15B4E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6170" y="1447799"/>
            <a:ext cx="6220409" cy="4572001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0714737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F3FC718-FDE3-4EF7-921E-A5F374EAF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11F5B5-CC23-47A6-2D3D-407D43213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55" y="1447799"/>
            <a:ext cx="3108626" cy="1444752"/>
          </a:xfrm>
        </p:spPr>
        <p:txBody>
          <a:bodyPr anchor="b">
            <a:normAutofit/>
          </a:bodyPr>
          <a:lstStyle/>
          <a:p>
            <a:r>
              <a:rPr lang="en-US" sz="3200" dirty="0">
                <a:solidFill>
                  <a:srgbClr val="EBEBEB"/>
                </a:solidFill>
              </a:rPr>
              <a:t>Correlation Analysis</a:t>
            </a:r>
            <a:endParaRPr lang="en-IN" sz="3200" dirty="0">
              <a:solidFill>
                <a:srgbClr val="EBEBEB"/>
              </a:solidFill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FAA0F719-3DC8-4F08-AD8F-5A845658C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7DCB61BE-FA0F-4EFB-BE0E-268BAD8E3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4747655" y="-586345"/>
            <a:ext cx="6858001" cy="8030691"/>
          </a:xfrm>
          <a:custGeom>
            <a:avLst/>
            <a:gdLst>
              <a:gd name="connsiteX0" fmla="*/ 6858001 w 6858001"/>
              <a:gd name="connsiteY0" fmla="*/ 1177 h 8030691"/>
              <a:gd name="connsiteX1" fmla="*/ 6858001 w 6858001"/>
              <a:gd name="connsiteY1" fmla="*/ 1344715 h 8030691"/>
              <a:gd name="connsiteX2" fmla="*/ 6858000 w 6858001"/>
              <a:gd name="connsiteY2" fmla="*/ 1344715 h 8030691"/>
              <a:gd name="connsiteX3" fmla="*/ 6858000 w 6858001"/>
              <a:gd name="connsiteY3" fmla="*/ 8030691 h 8030691"/>
              <a:gd name="connsiteX4" fmla="*/ 0 w 6858001"/>
              <a:gd name="connsiteY4" fmla="*/ 8030690 h 8030691"/>
              <a:gd name="connsiteX5" fmla="*/ 0 w 6858001"/>
              <a:gd name="connsiteY5" fmla="*/ 477747 h 8030691"/>
              <a:gd name="connsiteX6" fmla="*/ 1 w 6858001"/>
              <a:gd name="connsiteY6" fmla="*/ 477747 h 8030691"/>
              <a:gd name="connsiteX7" fmla="*/ 1 w 6858001"/>
              <a:gd name="connsiteY7" fmla="*/ 0 h 8030691"/>
              <a:gd name="connsiteX8" fmla="*/ 40463 w 6858001"/>
              <a:gd name="connsiteY8" fmla="*/ 5883 h 8030691"/>
              <a:gd name="connsiteX9" fmla="*/ 159107 w 6858001"/>
              <a:gd name="connsiteY9" fmla="*/ 23196 h 8030691"/>
              <a:gd name="connsiteX10" fmla="*/ 245518 w 6858001"/>
              <a:gd name="connsiteY10" fmla="*/ 35299 h 8030691"/>
              <a:gd name="connsiteX11" fmla="*/ 348388 w 6858001"/>
              <a:gd name="connsiteY11" fmla="*/ 48074 h 8030691"/>
              <a:gd name="connsiteX12" fmla="*/ 470460 w 6858001"/>
              <a:gd name="connsiteY12" fmla="*/ 63370 h 8030691"/>
              <a:gd name="connsiteX13" fmla="*/ 605563 w 6858001"/>
              <a:gd name="connsiteY13" fmla="*/ 79507 h 8030691"/>
              <a:gd name="connsiteX14" fmla="*/ 757810 w 6858001"/>
              <a:gd name="connsiteY14" fmla="*/ 96484 h 8030691"/>
              <a:gd name="connsiteX15" fmla="*/ 923774 w 6858001"/>
              <a:gd name="connsiteY15" fmla="*/ 114469 h 8030691"/>
              <a:gd name="connsiteX16" fmla="*/ 1104139 w 6858001"/>
              <a:gd name="connsiteY16" fmla="*/ 132455 h 8030691"/>
              <a:gd name="connsiteX17" fmla="*/ 1296163 w 6858001"/>
              <a:gd name="connsiteY17" fmla="*/ 150776 h 8030691"/>
              <a:gd name="connsiteX18" fmla="*/ 1503275 w 6858001"/>
              <a:gd name="connsiteY18" fmla="*/ 167753 h 8030691"/>
              <a:gd name="connsiteX19" fmla="*/ 1719988 w 6858001"/>
              <a:gd name="connsiteY19" fmla="*/ 184058 h 8030691"/>
              <a:gd name="connsiteX20" fmla="*/ 1949045 w 6858001"/>
              <a:gd name="connsiteY20" fmla="*/ 198850 h 8030691"/>
              <a:gd name="connsiteX21" fmla="*/ 2187703 w 6858001"/>
              <a:gd name="connsiteY21" fmla="*/ 212969 h 8030691"/>
              <a:gd name="connsiteX22" fmla="*/ 2436649 w 6858001"/>
              <a:gd name="connsiteY22" fmla="*/ 226249 h 8030691"/>
              <a:gd name="connsiteX23" fmla="*/ 2564208 w 6858001"/>
              <a:gd name="connsiteY23" fmla="*/ 230955 h 8030691"/>
              <a:gd name="connsiteX24" fmla="*/ 2694509 w 6858001"/>
              <a:gd name="connsiteY24" fmla="*/ 236166 h 8030691"/>
              <a:gd name="connsiteX25" fmla="*/ 2826869 w 6858001"/>
              <a:gd name="connsiteY25" fmla="*/ 241040 h 8030691"/>
              <a:gd name="connsiteX26" fmla="*/ 2959914 w 6858001"/>
              <a:gd name="connsiteY26" fmla="*/ 244234 h 8030691"/>
              <a:gd name="connsiteX27" fmla="*/ 3095702 w 6858001"/>
              <a:gd name="connsiteY27" fmla="*/ 247092 h 8030691"/>
              <a:gd name="connsiteX28" fmla="*/ 3232862 w 6858001"/>
              <a:gd name="connsiteY28" fmla="*/ 250117 h 8030691"/>
              <a:gd name="connsiteX29" fmla="*/ 3372766 w 6858001"/>
              <a:gd name="connsiteY29" fmla="*/ 252134 h 8030691"/>
              <a:gd name="connsiteX30" fmla="*/ 3514040 w 6858001"/>
              <a:gd name="connsiteY30" fmla="*/ 252134 h 8030691"/>
              <a:gd name="connsiteX31" fmla="*/ 3656686 w 6858001"/>
              <a:gd name="connsiteY31" fmla="*/ 253143 h 8030691"/>
              <a:gd name="connsiteX32" fmla="*/ 3800705 w 6858001"/>
              <a:gd name="connsiteY32" fmla="*/ 252134 h 8030691"/>
              <a:gd name="connsiteX33" fmla="*/ 3946780 w 6858001"/>
              <a:gd name="connsiteY33" fmla="*/ 250117 h 8030691"/>
              <a:gd name="connsiteX34" fmla="*/ 4092856 w 6858001"/>
              <a:gd name="connsiteY34" fmla="*/ 248268 h 8030691"/>
              <a:gd name="connsiteX35" fmla="*/ 4240988 w 6858001"/>
              <a:gd name="connsiteY35" fmla="*/ 244234 h 8030691"/>
              <a:gd name="connsiteX36" fmla="*/ 4390492 w 6858001"/>
              <a:gd name="connsiteY36" fmla="*/ 240032 h 8030691"/>
              <a:gd name="connsiteX37" fmla="*/ 4539997 w 6858001"/>
              <a:gd name="connsiteY37" fmla="*/ 235157 h 8030691"/>
              <a:gd name="connsiteX38" fmla="*/ 4690873 w 6858001"/>
              <a:gd name="connsiteY38" fmla="*/ 228266 h 8030691"/>
              <a:gd name="connsiteX39" fmla="*/ 4843120 w 6858001"/>
              <a:gd name="connsiteY39" fmla="*/ 220029 h 8030691"/>
              <a:gd name="connsiteX40" fmla="*/ 4996054 w 6858001"/>
              <a:gd name="connsiteY40" fmla="*/ 212129 h 8030691"/>
              <a:gd name="connsiteX41" fmla="*/ 5148987 w 6858001"/>
              <a:gd name="connsiteY41" fmla="*/ 202044 h 8030691"/>
              <a:gd name="connsiteX42" fmla="*/ 5303978 w 6858001"/>
              <a:gd name="connsiteY42" fmla="*/ 189941 h 8030691"/>
              <a:gd name="connsiteX43" fmla="*/ 5456911 w 6858001"/>
              <a:gd name="connsiteY43" fmla="*/ 177839 h 8030691"/>
              <a:gd name="connsiteX44" fmla="*/ 5612588 w 6858001"/>
              <a:gd name="connsiteY44" fmla="*/ 163887 h 8030691"/>
              <a:gd name="connsiteX45" fmla="*/ 5768950 w 6858001"/>
              <a:gd name="connsiteY45" fmla="*/ 148591 h 8030691"/>
              <a:gd name="connsiteX46" fmla="*/ 5923255 w 6858001"/>
              <a:gd name="connsiteY46" fmla="*/ 132455 h 8030691"/>
              <a:gd name="connsiteX47" fmla="*/ 6079618 w 6858001"/>
              <a:gd name="connsiteY47" fmla="*/ 113629 h 8030691"/>
              <a:gd name="connsiteX48" fmla="*/ 6235294 w 6858001"/>
              <a:gd name="connsiteY48" fmla="*/ 93458 h 8030691"/>
              <a:gd name="connsiteX49" fmla="*/ 6391657 w 6858001"/>
              <a:gd name="connsiteY49" fmla="*/ 73455 h 8030691"/>
              <a:gd name="connsiteX50" fmla="*/ 6547333 w 6858001"/>
              <a:gd name="connsiteY50" fmla="*/ 50091 h 8030691"/>
              <a:gd name="connsiteX51" fmla="*/ 6702324 w 6858001"/>
              <a:gd name="connsiteY51" fmla="*/ 26222 h 8030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8030691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8030691"/>
                </a:lnTo>
                <a:lnTo>
                  <a:pt x="0" y="8030690"/>
                </a:lnTo>
                <a:lnTo>
                  <a:pt x="0" y="477747"/>
                </a:lnTo>
                <a:lnTo>
                  <a:pt x="1" y="477747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4"/>
                </a:lnTo>
                <a:lnTo>
                  <a:pt x="470460" y="63370"/>
                </a:lnTo>
                <a:lnTo>
                  <a:pt x="605563" y="79507"/>
                </a:lnTo>
                <a:lnTo>
                  <a:pt x="757810" y="96484"/>
                </a:lnTo>
                <a:lnTo>
                  <a:pt x="923774" y="114469"/>
                </a:lnTo>
                <a:lnTo>
                  <a:pt x="1104139" y="132455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50"/>
                </a:lnTo>
                <a:lnTo>
                  <a:pt x="2187703" y="212969"/>
                </a:lnTo>
                <a:lnTo>
                  <a:pt x="2436649" y="226249"/>
                </a:lnTo>
                <a:lnTo>
                  <a:pt x="2564208" y="230955"/>
                </a:lnTo>
                <a:lnTo>
                  <a:pt x="2694509" y="236166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2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3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4B31EAA-7423-46F7-9B90-4AB2B09C35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124D8-1950-73CC-2102-0539A735B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855" y="3072385"/>
            <a:ext cx="3108057" cy="2947415"/>
          </a:xfrm>
        </p:spPr>
        <p:txBody>
          <a:bodyPr>
            <a:normAutofit/>
          </a:bodyPr>
          <a:lstStyle/>
          <a:p>
            <a:r>
              <a:rPr lang="en-US" sz="1400" dirty="0">
                <a:solidFill>
                  <a:srgbClr val="FFFFFF"/>
                </a:solidFill>
              </a:rPr>
              <a:t>Interest rate shows relationship with risk related variable </a:t>
            </a:r>
          </a:p>
          <a:p>
            <a:r>
              <a:rPr lang="en-US" sz="1400" dirty="0">
                <a:solidFill>
                  <a:srgbClr val="FFFFFF"/>
                </a:solidFill>
              </a:rPr>
              <a:t>Loan amount and income are moderate correlation</a:t>
            </a:r>
          </a:p>
          <a:p>
            <a:r>
              <a:rPr lang="en-US" sz="1400" dirty="0">
                <a:solidFill>
                  <a:srgbClr val="FFFFFF"/>
                </a:solidFill>
              </a:rPr>
              <a:t>No extreme multicollinearity observed </a:t>
            </a:r>
            <a:endParaRPr lang="en-IN" sz="1400" dirty="0">
              <a:solidFill>
                <a:srgbClr val="FFFFFF"/>
              </a:solidFill>
            </a:endParaRPr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A01B3B70-97D7-79AE-7C69-0B85DAC4EB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6822" y="1447799"/>
            <a:ext cx="5459105" cy="4572001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3385809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3D6FF-CBE3-7574-8358-DD4563D30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Insights !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C4DA9-3F47-6FF8-C228-9732F5F4C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Higher interest rate are associated with higher default risk</a:t>
            </a:r>
          </a:p>
          <a:p>
            <a:endParaRPr lang="en-US" dirty="0"/>
          </a:p>
          <a:p>
            <a:r>
              <a:rPr lang="en-US" dirty="0"/>
              <a:t>Borrowers with the higher income shows better repayment behavior</a:t>
            </a:r>
          </a:p>
          <a:p>
            <a:endParaRPr lang="en-US" dirty="0"/>
          </a:p>
          <a:p>
            <a:r>
              <a:rPr lang="en-US" dirty="0"/>
              <a:t>High debt-to-income ratios indicates increased default probability </a:t>
            </a:r>
          </a:p>
          <a:p>
            <a:endParaRPr lang="en-US" dirty="0"/>
          </a:p>
          <a:p>
            <a:r>
              <a:rPr lang="en-US" dirty="0"/>
              <a:t>Lower loan grade exhibit higher relative default risk </a:t>
            </a:r>
          </a:p>
          <a:p>
            <a:endParaRPr lang="en-US" dirty="0"/>
          </a:p>
          <a:p>
            <a:r>
              <a:rPr lang="en-US" dirty="0"/>
              <a:t>Longer loan tenure increases exposure to default risk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65655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5A908-3C7F-D260-A1DC-49FCF8C87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Implications &amp; Recommendation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42AC0-03E3-F564-2C38-236BCCFB4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Strengthen screening for the borrowers with high debt-to-income  ratio </a:t>
            </a:r>
          </a:p>
          <a:p>
            <a:r>
              <a:rPr lang="en-US" dirty="0"/>
              <a:t>Apply stricter monitoring for long term(60 months) loans </a:t>
            </a:r>
          </a:p>
          <a:p>
            <a:r>
              <a:rPr lang="en-US" dirty="0"/>
              <a:t>Enhance risk based pricing for the mid to low loan grade </a:t>
            </a:r>
          </a:p>
          <a:p>
            <a:r>
              <a:rPr lang="en-US" dirty="0"/>
              <a:t>Encourage lower risk borrowers through competitive interest rate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65960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23F1F-63AB-F20D-467D-195976611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0B50A-5566-AFDA-7D04-CECD2D3C78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Analysis is exploratory and does not imply causation </a:t>
            </a:r>
          </a:p>
          <a:p>
            <a:r>
              <a:rPr lang="en-US" dirty="0"/>
              <a:t>External economics factors were not included in the dataset </a:t>
            </a:r>
          </a:p>
          <a:p>
            <a:r>
              <a:rPr lang="en-US" dirty="0"/>
              <a:t>Some variables contains missing values and outliers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10425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3F4CD-24CE-1755-751A-7F190E23B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45332-666C-A4CA-57CC-A4D1D0F257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Loan defaults are influenced by the borrowers financial stability and loan structure </a:t>
            </a:r>
          </a:p>
          <a:p>
            <a:r>
              <a:rPr lang="en-US" dirty="0"/>
              <a:t>Interest rate , income  , debt to income ratio and the grade as the key risk indicators </a:t>
            </a:r>
          </a:p>
          <a:p>
            <a:r>
              <a:rPr lang="en-US" dirty="0"/>
              <a:t>EDA provides valuable direction for the credit risk assessment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23809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7B7A0-2324-033E-5F7C-FA8DD7D6E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&amp; Technology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58D90-1DB2-4F19-1ACD-A55560F3F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Python </a:t>
            </a:r>
          </a:p>
          <a:p>
            <a:r>
              <a:rPr lang="en-US" b="1" dirty="0"/>
              <a:t>Pandas , NumPy </a:t>
            </a:r>
          </a:p>
          <a:p>
            <a:r>
              <a:rPr lang="en-US" b="1" dirty="0"/>
              <a:t>Matplotlib, Seaborn</a:t>
            </a:r>
          </a:p>
          <a:p>
            <a:r>
              <a:rPr lang="en-US" b="1" dirty="0"/>
              <a:t>Google Collab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8459387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FCA61-8FFA-B3AD-2746-ED895ED02F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i="1" dirty="0"/>
              <a:t>Thank you !</a:t>
            </a:r>
            <a:endParaRPr lang="en-IN" i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7468BC-26AB-A380-B199-5D1D9AF1A5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cap="none" dirty="0"/>
              <a:t>GitHub : GitHub.com/</a:t>
            </a:r>
            <a:r>
              <a:rPr lang="en-US" cap="none" dirty="0" err="1"/>
              <a:t>somaiyavehan</a:t>
            </a:r>
            <a:r>
              <a:rPr lang="en-US" cap="none" dirty="0"/>
              <a:t> </a:t>
            </a:r>
            <a:r>
              <a:rPr lang="en-US" dirty="0"/>
              <a:t>/</a:t>
            </a:r>
            <a:r>
              <a:rPr lang="en-US" cap="none" dirty="0"/>
              <a:t>Lending-Club-Analysis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28000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174</TotalTime>
  <Words>575</Words>
  <Application>Microsoft Office PowerPoint</Application>
  <PresentationFormat>Widescreen</PresentationFormat>
  <Paragraphs>87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Century Gothic</vt:lpstr>
      <vt:lpstr>Wingdings 3</vt:lpstr>
      <vt:lpstr>Ion</vt:lpstr>
      <vt:lpstr>Lending Club Loan Data Analysis &amp; Risk Insights</vt:lpstr>
      <vt:lpstr>Problem Statement</vt:lpstr>
      <vt:lpstr>Data Overview</vt:lpstr>
      <vt:lpstr>Data Cleaning &amp; Preprocessing</vt:lpstr>
      <vt:lpstr>Loan Status Distribution</vt:lpstr>
      <vt:lpstr>Loan Amount Distribution</vt:lpstr>
      <vt:lpstr>Interest rate vs Loan Status</vt:lpstr>
      <vt:lpstr>Annual Income vs Loan Status</vt:lpstr>
      <vt:lpstr>Debt-to-Income vs Loan Status</vt:lpstr>
      <vt:lpstr>Loan Grade vs Loan Status</vt:lpstr>
      <vt:lpstr>Term vs Loan Status </vt:lpstr>
      <vt:lpstr>Correlation Analysis</vt:lpstr>
      <vt:lpstr>Key Insights !</vt:lpstr>
      <vt:lpstr>Business Implications &amp; Recommendation </vt:lpstr>
      <vt:lpstr>Limitations </vt:lpstr>
      <vt:lpstr>Conclusion </vt:lpstr>
      <vt:lpstr>Tools &amp; Technology </vt:lpstr>
      <vt:lpstr>Thank you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QSK1184</dc:creator>
  <cp:lastModifiedBy>QSK1184</cp:lastModifiedBy>
  <cp:revision>2</cp:revision>
  <dcterms:created xsi:type="dcterms:W3CDTF">2026-01-16T05:55:12Z</dcterms:created>
  <dcterms:modified xsi:type="dcterms:W3CDTF">2026-01-17T07:15:43Z</dcterms:modified>
</cp:coreProperties>
</file>